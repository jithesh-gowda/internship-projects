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AC9E448-06F9-44FF-A82E-CC4003DE834E}">
          <p14:sldIdLst>
            <p14:sldId id="256"/>
            <p14:sldId id="257"/>
            <p14:sldId id="258"/>
            <p14:sldId id="259"/>
            <p14:sldId id="260"/>
            <p14:sldId id="261"/>
            <p14:sldId id="262"/>
            <p14:sldId id="263"/>
            <p14:sldId id="264"/>
            <p14:sldId id="265"/>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a:xfrm>
            <a:off x="2692397" y="5037663"/>
            <a:ext cx="5214635" cy="279400"/>
          </a:xfrm>
        </p:spPr>
        <p:txBody>
          <a:bodyPr/>
          <a:lstStyle/>
          <a:p>
            <a:endParaRPr lang="en-IN" dirty="0"/>
          </a:p>
        </p:txBody>
      </p:sp>
      <p:sp>
        <p:nvSpPr>
          <p:cNvPr id="6" name="Slide Number Placeholder 5"/>
          <p:cNvSpPr>
            <a:spLocks noGrp="1"/>
          </p:cNvSpPr>
          <p:nvPr>
            <p:ph type="sldNum" sz="quarter" idx="12"/>
          </p:nvPr>
        </p:nvSpPr>
        <p:spPr>
          <a:xfrm>
            <a:off x="8956900" y="5037663"/>
            <a:ext cx="551167" cy="279400"/>
          </a:xfrm>
        </p:spPr>
        <p:txBody>
          <a:bodyPr/>
          <a:lstStyle/>
          <a:p>
            <a:fld id="{0429BFD8-C553-49A2-9AFC-DD403714D03D}" type="slidenum">
              <a:rPr lang="en-IN" smtClean="0"/>
              <a:t>‹#›</a:t>
            </a:fld>
            <a:endParaRPr lang="en-IN"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9195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spTree>
    <p:extLst>
      <p:ext uri="{BB962C8B-B14F-4D97-AF65-F5344CB8AC3E}">
        <p14:creationId xmlns:p14="http://schemas.microsoft.com/office/powerpoint/2010/main" val="1521923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69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29BFD8-C553-49A2-9AFC-DD403714D03D}" type="slidenum">
              <a:rPr lang="en-IN" smtClean="0"/>
              <a:t>‹#›</a:t>
            </a:fld>
            <a:endParaRPr lang="en-IN" dirty="0"/>
          </a:p>
        </p:txBody>
      </p:sp>
    </p:spTree>
    <p:extLst>
      <p:ext uri="{BB962C8B-B14F-4D97-AF65-F5344CB8AC3E}">
        <p14:creationId xmlns:p14="http://schemas.microsoft.com/office/powerpoint/2010/main" val="3817501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429BFD8-C553-49A2-9AFC-DD403714D03D}" type="slidenum">
              <a:rPr lang="en-IN" smtClean="0"/>
              <a:t>‹#›</a:t>
            </a:fld>
            <a:endParaRPr lang="en-IN"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4860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429BFD8-C553-49A2-9AFC-DD403714D03D}"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5636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429BFD8-C553-49A2-9AFC-DD403714D03D}" type="slidenum">
              <a:rPr lang="en-IN" smtClean="0"/>
              <a:t>‹#›</a:t>
            </a:fld>
            <a:endParaRPr lang="en-IN" dirty="0"/>
          </a:p>
        </p:txBody>
      </p:sp>
    </p:spTree>
    <p:extLst>
      <p:ext uri="{BB962C8B-B14F-4D97-AF65-F5344CB8AC3E}">
        <p14:creationId xmlns:p14="http://schemas.microsoft.com/office/powerpoint/2010/main" val="1067339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29BFD8-C553-49A2-9AFC-DD403714D03D}" type="slidenum">
              <a:rPr lang="en-IN" smtClean="0"/>
              <a:t>‹#›</a:t>
            </a:fld>
            <a:endParaRPr lang="en-IN"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5573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29BFD8-C553-49A2-9AFC-DD403714D03D}" type="slidenum">
              <a:rPr lang="en-IN" smtClean="0"/>
              <a:t>‹#›</a:t>
            </a:fld>
            <a:endParaRPr lang="en-IN" dirty="0"/>
          </a:p>
        </p:txBody>
      </p:sp>
    </p:spTree>
    <p:extLst>
      <p:ext uri="{BB962C8B-B14F-4D97-AF65-F5344CB8AC3E}">
        <p14:creationId xmlns:p14="http://schemas.microsoft.com/office/powerpoint/2010/main" val="696954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29BFD8-C553-49A2-9AFC-DD403714D03D}" type="slidenum">
              <a:rPr lang="en-IN" smtClean="0"/>
              <a:t>‹#›</a:t>
            </a:fld>
            <a:endParaRPr lang="en-IN" dirty="0"/>
          </a:p>
        </p:txBody>
      </p:sp>
    </p:spTree>
    <p:extLst>
      <p:ext uri="{BB962C8B-B14F-4D97-AF65-F5344CB8AC3E}">
        <p14:creationId xmlns:p14="http://schemas.microsoft.com/office/powerpoint/2010/main" val="3240401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7480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1191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spTree>
    <p:extLst>
      <p:ext uri="{BB962C8B-B14F-4D97-AF65-F5344CB8AC3E}">
        <p14:creationId xmlns:p14="http://schemas.microsoft.com/office/powerpoint/2010/main" val="993570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6708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48377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6143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40A7B-2330-4769-818C-9CE2E7354395}" type="datetimeFigureOut">
              <a:rPr lang="en-IN" smtClean="0"/>
              <a:t>12-04-2025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29BFD8-C553-49A2-9AFC-DD403714D03D}" type="slidenum">
              <a:rPr lang="en-IN" smtClean="0"/>
              <a:t>‹#›</a:t>
            </a:fld>
            <a:endParaRPr lang="en-IN"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093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1C40A7B-2330-4769-818C-9CE2E7354395}" type="datetimeFigureOut">
              <a:rPr lang="en-IN" smtClean="0"/>
              <a:t>12-04-2025</a:t>
            </a:fld>
            <a:endParaRPr lang="en-IN"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29BFD8-C553-49A2-9AFC-DD403714D03D}" type="slidenum">
              <a:rPr lang="en-IN" smtClean="0"/>
              <a:t>‹#›</a:t>
            </a:fld>
            <a:endParaRPr lang="en-IN" dirty="0"/>
          </a:p>
        </p:txBody>
      </p:sp>
    </p:spTree>
    <p:extLst>
      <p:ext uri="{BB962C8B-B14F-4D97-AF65-F5344CB8AC3E}">
        <p14:creationId xmlns:p14="http://schemas.microsoft.com/office/powerpoint/2010/main" val="348958411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E79D1-2EA4-E171-0481-CE34E2374F1A}"/>
              </a:ext>
            </a:extLst>
          </p:cNvPr>
          <p:cNvSpPr>
            <a:spLocks noGrp="1"/>
          </p:cNvSpPr>
          <p:nvPr>
            <p:ph type="ctrTitle"/>
          </p:nvPr>
        </p:nvSpPr>
        <p:spPr/>
        <p:txBody>
          <a:bodyPr>
            <a:normAutofit fontScale="90000"/>
          </a:bodyPr>
          <a:lstStyle/>
          <a:p>
            <a:r>
              <a:rPr lang="en-US" sz="4800" b="0" i="0" dirty="0">
                <a:solidFill>
                  <a:srgbClr val="282523"/>
                </a:solidFill>
                <a:effectLst/>
                <a:latin typeface="Ginto"/>
              </a:rPr>
              <a:t>Power BI Dashboard for</a:t>
            </a:r>
            <a:br>
              <a:rPr lang="en-US" sz="4800" b="0" i="0" dirty="0">
                <a:solidFill>
                  <a:srgbClr val="282523"/>
                </a:solidFill>
                <a:effectLst/>
                <a:latin typeface="Ginto"/>
              </a:rPr>
            </a:br>
            <a:r>
              <a:rPr lang="en-US" sz="4800" b="0" i="0" dirty="0">
                <a:solidFill>
                  <a:srgbClr val="282523"/>
                </a:solidFill>
                <a:effectLst/>
                <a:latin typeface="Ginto"/>
              </a:rPr>
              <a:t> Supermarket Sales</a:t>
            </a:r>
            <a:endParaRPr lang="en-IN" sz="4800" dirty="0"/>
          </a:p>
        </p:txBody>
      </p:sp>
      <p:sp>
        <p:nvSpPr>
          <p:cNvPr id="3" name="Subtitle 2">
            <a:extLst>
              <a:ext uri="{FF2B5EF4-FFF2-40B4-BE49-F238E27FC236}">
                <a16:creationId xmlns:a16="http://schemas.microsoft.com/office/drawing/2014/main" id="{C9D6FE85-54E9-EA78-850C-8C8E1BF8F1AD}"/>
              </a:ext>
            </a:extLst>
          </p:cNvPr>
          <p:cNvSpPr>
            <a:spLocks noGrp="1"/>
          </p:cNvSpPr>
          <p:nvPr>
            <p:ph type="subTitle" idx="1"/>
          </p:nvPr>
        </p:nvSpPr>
        <p:spPr/>
        <p:txBody>
          <a:bodyPr/>
          <a:lstStyle/>
          <a:p>
            <a:r>
              <a:rPr lang="en-US" b="0" i="0" dirty="0">
                <a:solidFill>
                  <a:srgbClr val="282523"/>
                </a:solidFill>
                <a:effectLst/>
                <a:latin typeface="Ginto"/>
              </a:rPr>
              <a:t>An Interactive Analysis of Sales Performance</a:t>
            </a:r>
          </a:p>
          <a:p>
            <a:endParaRPr lang="en-US" b="0" i="0" dirty="0">
              <a:solidFill>
                <a:srgbClr val="282523"/>
              </a:solidFill>
              <a:effectLst/>
              <a:latin typeface="Ginto"/>
            </a:endParaRPr>
          </a:p>
          <a:p>
            <a:endParaRPr lang="en-IN" dirty="0">
              <a:solidFill>
                <a:srgbClr val="282523"/>
              </a:solidFill>
              <a:latin typeface="Ginto"/>
            </a:endParaRPr>
          </a:p>
          <a:p>
            <a:endParaRPr lang="en-US" dirty="0">
              <a:solidFill>
                <a:srgbClr val="282523"/>
              </a:solidFill>
              <a:latin typeface="Ginto"/>
            </a:endParaRPr>
          </a:p>
        </p:txBody>
      </p:sp>
      <p:sp>
        <p:nvSpPr>
          <p:cNvPr id="5" name="TextBox 4">
            <a:extLst>
              <a:ext uri="{FF2B5EF4-FFF2-40B4-BE49-F238E27FC236}">
                <a16:creationId xmlns:a16="http://schemas.microsoft.com/office/drawing/2014/main" id="{F54E6BAC-B31C-6F30-155C-E11D9AE45EB1}"/>
              </a:ext>
            </a:extLst>
          </p:cNvPr>
          <p:cNvSpPr txBox="1"/>
          <p:nvPr/>
        </p:nvSpPr>
        <p:spPr>
          <a:xfrm>
            <a:off x="520831" y="5979744"/>
            <a:ext cx="6094428" cy="1477328"/>
          </a:xfrm>
          <a:prstGeom prst="rect">
            <a:avLst/>
          </a:prstGeom>
          <a:noFill/>
        </p:spPr>
        <p:txBody>
          <a:bodyPr wrap="square">
            <a:spAutoFit/>
          </a:bodyPr>
          <a:lstStyle/>
          <a:p>
            <a:r>
              <a:rPr lang="en-US" b="0" i="0" dirty="0">
                <a:solidFill>
                  <a:srgbClr val="282523"/>
                </a:solidFill>
                <a:effectLst/>
                <a:latin typeface="Ginto"/>
              </a:rPr>
              <a:t>Jithesh Gowda </a:t>
            </a:r>
          </a:p>
          <a:p>
            <a:r>
              <a:rPr lang="en-US" b="0" i="0" dirty="0">
                <a:solidFill>
                  <a:srgbClr val="282523"/>
                </a:solidFill>
                <a:effectLst/>
                <a:latin typeface="Ginto"/>
              </a:rPr>
              <a:t>12/04/2025</a:t>
            </a:r>
          </a:p>
          <a:p>
            <a:endParaRPr lang="en-US" b="0" i="0" dirty="0">
              <a:solidFill>
                <a:srgbClr val="282523"/>
              </a:solidFill>
              <a:effectLst/>
              <a:latin typeface="Ginto"/>
            </a:endParaRPr>
          </a:p>
          <a:p>
            <a:endParaRPr lang="en-IN" dirty="0">
              <a:solidFill>
                <a:srgbClr val="282523"/>
              </a:solidFill>
              <a:latin typeface="Ginto"/>
            </a:endParaRPr>
          </a:p>
          <a:p>
            <a:endParaRPr lang="en-US" dirty="0">
              <a:solidFill>
                <a:srgbClr val="282523"/>
              </a:solidFill>
              <a:latin typeface="Ginto"/>
            </a:endParaRPr>
          </a:p>
        </p:txBody>
      </p:sp>
    </p:spTree>
    <p:extLst>
      <p:ext uri="{BB962C8B-B14F-4D97-AF65-F5344CB8AC3E}">
        <p14:creationId xmlns:p14="http://schemas.microsoft.com/office/powerpoint/2010/main" val="410868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44DD-55C8-398A-B770-8AEF7913B1F3}"/>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CB6555E6-967A-43A1-B594-408DF9619CBC}"/>
              </a:ext>
            </a:extLst>
          </p:cNvPr>
          <p:cNvSpPr>
            <a:spLocks noGrp="1"/>
          </p:cNvSpPr>
          <p:nvPr>
            <p:ph idx="1"/>
          </p:nvPr>
        </p:nvSpPr>
        <p:spPr/>
        <p:txBody>
          <a:bodyPr/>
          <a:lstStyle/>
          <a:p>
            <a:pPr marL="0" indent="0">
              <a:buNone/>
            </a:pPr>
            <a:r>
              <a:rPr lang="en-US" dirty="0"/>
              <a:t>Objective:</a:t>
            </a:r>
          </a:p>
          <a:p>
            <a:pPr marL="0" indent="0">
              <a:buNone/>
            </a:pPr>
            <a:r>
              <a:rPr lang="en-US" dirty="0"/>
              <a:t>	1.Visualize Super Market sale using Power BI.</a:t>
            </a:r>
          </a:p>
          <a:p>
            <a:pPr marL="0" indent="0">
              <a:buNone/>
            </a:pPr>
            <a:r>
              <a:rPr lang="en-US" dirty="0"/>
              <a:t>	2. Identify Trends in revenue, customer demographics and                 	  	                 	   product performance.</a:t>
            </a:r>
          </a:p>
          <a:p>
            <a:pPr marL="0" indent="0">
              <a:buNone/>
            </a:pPr>
            <a:r>
              <a:rPr lang="en-US" dirty="0"/>
              <a:t>	3. Enable interactive data exploration for better decision making.</a:t>
            </a:r>
          </a:p>
        </p:txBody>
      </p:sp>
    </p:spTree>
    <p:extLst>
      <p:ext uri="{BB962C8B-B14F-4D97-AF65-F5344CB8AC3E}">
        <p14:creationId xmlns:p14="http://schemas.microsoft.com/office/powerpoint/2010/main" val="3813575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B9C8-5A19-8E4E-BBBF-349EF745DE3A}"/>
              </a:ext>
            </a:extLst>
          </p:cNvPr>
          <p:cNvSpPr>
            <a:spLocks noGrp="1"/>
          </p:cNvSpPr>
          <p:nvPr>
            <p:ph type="title"/>
          </p:nvPr>
        </p:nvSpPr>
        <p:spPr/>
        <p:txBody>
          <a:bodyPr/>
          <a:lstStyle/>
          <a:p>
            <a:r>
              <a:rPr lang="en-US" dirty="0"/>
              <a:t>Dataset overview</a:t>
            </a:r>
            <a:endParaRPr lang="en-IN" dirty="0"/>
          </a:p>
        </p:txBody>
      </p:sp>
      <p:sp>
        <p:nvSpPr>
          <p:cNvPr id="3" name="Content Placeholder 2">
            <a:extLst>
              <a:ext uri="{FF2B5EF4-FFF2-40B4-BE49-F238E27FC236}">
                <a16:creationId xmlns:a16="http://schemas.microsoft.com/office/drawing/2014/main" id="{5BB8C05F-F77B-1538-6CD9-6C32127783FB}"/>
              </a:ext>
            </a:extLst>
          </p:cNvPr>
          <p:cNvSpPr>
            <a:spLocks noGrp="1"/>
          </p:cNvSpPr>
          <p:nvPr>
            <p:ph idx="1"/>
          </p:nvPr>
        </p:nvSpPr>
        <p:spPr/>
        <p:txBody>
          <a:bodyPr/>
          <a:lstStyle/>
          <a:p>
            <a:pPr marL="0" indent="0">
              <a:buNone/>
            </a:pPr>
            <a:r>
              <a:rPr lang="en-US" dirty="0"/>
              <a:t>The dataset includes:</a:t>
            </a:r>
          </a:p>
          <a:p>
            <a:r>
              <a:rPr lang="en-IN" dirty="0"/>
              <a:t>Branches &amp; Cities: Yangon(A),Mandalay(B) and Naypyitaw(C)</a:t>
            </a:r>
          </a:p>
          <a:p>
            <a:r>
              <a:rPr lang="en-IN" dirty="0"/>
              <a:t>Product line: </a:t>
            </a:r>
            <a:r>
              <a:rPr lang="en-IN" sz="1800" b="0" i="0" u="none" strike="noStrike" dirty="0">
                <a:solidFill>
                  <a:srgbClr val="000000"/>
                </a:solidFill>
                <a:effectLst/>
                <a:latin typeface="Calibri" panose="020F0502020204030204" pitchFamily="34" charset="0"/>
              </a:rPr>
              <a:t>Electronic accessories</a:t>
            </a:r>
            <a:r>
              <a:rPr lang="en-IN" dirty="0"/>
              <a:t> ,</a:t>
            </a:r>
            <a:r>
              <a:rPr lang="en-IN" sz="1800" b="0" i="0" u="none" strike="noStrike" dirty="0">
                <a:solidFill>
                  <a:srgbClr val="000000"/>
                </a:solidFill>
                <a:effectLst/>
                <a:latin typeface="Calibri" panose="020F0502020204030204" pitchFamily="34" charset="0"/>
              </a:rPr>
              <a:t> Home and lifestyle</a:t>
            </a:r>
            <a:r>
              <a:rPr lang="en-IN" dirty="0"/>
              <a:t> ,</a:t>
            </a:r>
            <a:r>
              <a:rPr lang="en-IN" sz="1800" b="0" i="0" u="none" strike="noStrike" dirty="0">
                <a:solidFill>
                  <a:srgbClr val="000000"/>
                </a:solidFill>
                <a:effectLst/>
                <a:latin typeface="Calibri" panose="020F0502020204030204" pitchFamily="34" charset="0"/>
              </a:rPr>
              <a:t> Health and beauty</a:t>
            </a:r>
            <a:r>
              <a:rPr lang="en-IN" dirty="0"/>
              <a:t> ,</a:t>
            </a:r>
            <a:r>
              <a:rPr lang="en-IN" sz="1800" b="0" i="0" u="none" strike="noStrike" dirty="0">
                <a:solidFill>
                  <a:srgbClr val="000000"/>
                </a:solidFill>
                <a:effectLst/>
                <a:latin typeface="Calibri" panose="020F0502020204030204" pitchFamily="34" charset="0"/>
              </a:rPr>
              <a:t> Sports and travel</a:t>
            </a:r>
            <a:r>
              <a:rPr lang="en-IN" dirty="0"/>
              <a:t> ,</a:t>
            </a:r>
            <a:r>
              <a:rPr lang="en-IN" sz="1800" b="0" i="0" u="none" strike="noStrike" dirty="0">
                <a:solidFill>
                  <a:srgbClr val="000000"/>
                </a:solidFill>
                <a:effectLst/>
                <a:latin typeface="Calibri" panose="020F0502020204030204" pitchFamily="34" charset="0"/>
              </a:rPr>
              <a:t> Fashion accessories</a:t>
            </a:r>
            <a:r>
              <a:rPr lang="en-IN" dirty="0"/>
              <a:t> and </a:t>
            </a:r>
            <a:r>
              <a:rPr lang="en-IN" sz="1800" b="0" i="0" u="none" strike="noStrike" dirty="0">
                <a:solidFill>
                  <a:srgbClr val="000000"/>
                </a:solidFill>
                <a:effectLst/>
                <a:latin typeface="Calibri" panose="020F0502020204030204" pitchFamily="34" charset="0"/>
              </a:rPr>
              <a:t>Food and beverages</a:t>
            </a:r>
            <a:r>
              <a:rPr lang="en-IN" dirty="0"/>
              <a:t> .</a:t>
            </a:r>
          </a:p>
          <a:p>
            <a:r>
              <a:rPr lang="en-IN" dirty="0"/>
              <a:t>Payment Method: Cash, Credit Card, Wallet</a:t>
            </a:r>
          </a:p>
          <a:p>
            <a:r>
              <a:rPr lang="en-US" b="1" dirty="0"/>
              <a:t>Financial Metrics:</a:t>
            </a:r>
            <a:r>
              <a:rPr lang="en-US" dirty="0"/>
              <a:t> Unit Price, Quantity, Tax, Total Sales, Gross Margin, Rating.</a:t>
            </a:r>
            <a:endParaRPr lang="en-IN" dirty="0"/>
          </a:p>
        </p:txBody>
      </p:sp>
    </p:spTree>
    <p:extLst>
      <p:ext uri="{BB962C8B-B14F-4D97-AF65-F5344CB8AC3E}">
        <p14:creationId xmlns:p14="http://schemas.microsoft.com/office/powerpoint/2010/main" val="510524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DDD5-3E29-6B46-6440-997981931CCC}"/>
              </a:ext>
            </a:extLst>
          </p:cNvPr>
          <p:cNvSpPr>
            <a:spLocks noGrp="1"/>
          </p:cNvSpPr>
          <p:nvPr>
            <p:ph type="title"/>
          </p:nvPr>
        </p:nvSpPr>
        <p:spPr/>
        <p:txBody>
          <a:bodyPr/>
          <a:lstStyle/>
          <a:p>
            <a:r>
              <a:rPr lang="en-IN" dirty="0"/>
              <a:t>Dashboard Components</a:t>
            </a:r>
          </a:p>
        </p:txBody>
      </p:sp>
      <p:sp>
        <p:nvSpPr>
          <p:cNvPr id="4" name="Rectangle 1">
            <a:extLst>
              <a:ext uri="{FF2B5EF4-FFF2-40B4-BE49-F238E27FC236}">
                <a16:creationId xmlns:a16="http://schemas.microsoft.com/office/drawing/2014/main" id="{15C833B0-8D9E-AF62-ABC3-5B22D242F2A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Sales Summary:</a:t>
            </a:r>
            <a:r>
              <a:rPr kumimoji="0" lang="en-US" altLang="en-US" sz="1800" b="0" i="0" u="none" strike="noStrike" cap="none" normalizeH="0" baseline="0" dirty="0">
                <a:ln>
                  <a:noFill/>
                </a:ln>
                <a:solidFill>
                  <a:schemeClr val="tx1"/>
                </a:solidFill>
                <a:effectLst/>
                <a:latin typeface="Arial" panose="020B0604020202020204" pitchFamily="34" charset="0"/>
              </a:rPr>
              <a:t> Total revenue, gross income, number of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Sales Trends:</a:t>
            </a:r>
            <a:r>
              <a:rPr kumimoji="0" lang="en-US" altLang="en-US" sz="1800" b="0" i="0" u="none" strike="noStrike" cap="none" normalizeH="0" baseline="0" dirty="0">
                <a:ln>
                  <a:noFill/>
                </a:ln>
                <a:solidFill>
                  <a:schemeClr val="tx1"/>
                </a:solidFill>
                <a:effectLst/>
                <a:latin typeface="Arial" panose="020B0604020202020204" pitchFamily="34" charset="0"/>
              </a:rPr>
              <a:t> Revenue fluctuations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Branch &amp; City Analysis:</a:t>
            </a:r>
            <a:r>
              <a:rPr kumimoji="0" lang="en-US" altLang="en-US" sz="1800" b="0" i="0" u="none" strike="noStrike" cap="none" normalizeH="0" baseline="0" dirty="0">
                <a:ln>
                  <a:noFill/>
                </a:ln>
                <a:solidFill>
                  <a:schemeClr val="tx1"/>
                </a:solidFill>
                <a:effectLst/>
                <a:latin typeface="Arial" panose="020B0604020202020204" pitchFamily="34" charset="0"/>
              </a:rPr>
              <a:t> Performance comparison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Insights:</a:t>
            </a:r>
            <a:r>
              <a:rPr kumimoji="0" lang="en-US" altLang="en-US" sz="1800" b="0" i="0" u="none" strike="noStrike" cap="none" normalizeH="0" baseline="0" dirty="0">
                <a:ln>
                  <a:noFill/>
                </a:ln>
                <a:solidFill>
                  <a:schemeClr val="tx1"/>
                </a:solidFill>
                <a:effectLst/>
                <a:latin typeface="Arial" panose="020B0604020202020204" pitchFamily="34" charset="0"/>
              </a:rPr>
              <a:t> Gender &amp; Membership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Product Performance:</a:t>
            </a:r>
            <a:r>
              <a:rPr kumimoji="0" lang="en-US" altLang="en-US" sz="1800" b="0" i="0" u="none" strike="noStrike" cap="none" normalizeH="0" baseline="0" dirty="0">
                <a:ln>
                  <a:noFill/>
                </a:ln>
                <a:solidFill>
                  <a:schemeClr val="tx1"/>
                </a:solidFill>
                <a:effectLst/>
                <a:latin typeface="Arial" panose="020B0604020202020204" pitchFamily="34" charset="0"/>
              </a:rPr>
              <a:t> Best-selling categories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Ratings &amp; Payment Analysis:</a:t>
            </a:r>
            <a:r>
              <a:rPr kumimoji="0" lang="en-US" altLang="en-US" sz="1800" b="0" i="0" u="none" strike="noStrike" cap="none" normalizeH="0" baseline="0" dirty="0">
                <a:ln>
                  <a:noFill/>
                </a:ln>
                <a:solidFill>
                  <a:schemeClr val="tx1"/>
                </a:solidFill>
                <a:effectLst/>
                <a:latin typeface="Arial" panose="020B0604020202020204" pitchFamily="34" charset="0"/>
              </a:rPr>
              <a:t> Customer satisfaction and payment preferences</a:t>
            </a:r>
          </a:p>
        </p:txBody>
      </p:sp>
    </p:spTree>
    <p:extLst>
      <p:ext uri="{BB962C8B-B14F-4D97-AF65-F5344CB8AC3E}">
        <p14:creationId xmlns:p14="http://schemas.microsoft.com/office/powerpoint/2010/main" val="523394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C75E9-27EB-16C5-31E4-B91729496DE5}"/>
              </a:ext>
            </a:extLst>
          </p:cNvPr>
          <p:cNvSpPr>
            <a:spLocks noGrp="1"/>
          </p:cNvSpPr>
          <p:nvPr>
            <p:ph type="title"/>
          </p:nvPr>
        </p:nvSpPr>
        <p:spPr/>
        <p:txBody>
          <a:bodyPr/>
          <a:lstStyle/>
          <a:p>
            <a:r>
              <a:rPr lang="en-IN" dirty="0"/>
              <a:t>Sales Summary</a:t>
            </a:r>
          </a:p>
        </p:txBody>
      </p:sp>
      <p:sp>
        <p:nvSpPr>
          <p:cNvPr id="3" name="Content Placeholder 2">
            <a:extLst>
              <a:ext uri="{FF2B5EF4-FFF2-40B4-BE49-F238E27FC236}">
                <a16:creationId xmlns:a16="http://schemas.microsoft.com/office/drawing/2014/main" id="{B44AD273-07F5-4EE9-728E-65ADCC659C1E}"/>
              </a:ext>
            </a:extLst>
          </p:cNvPr>
          <p:cNvSpPr>
            <a:spLocks noGrp="1"/>
          </p:cNvSpPr>
          <p:nvPr>
            <p:ph idx="1"/>
          </p:nvPr>
        </p:nvSpPr>
        <p:spPr/>
        <p:txBody>
          <a:bodyPr/>
          <a:lstStyle/>
          <a:p>
            <a:pPr>
              <a:spcBef>
                <a:spcPts val="900"/>
              </a:spcBef>
            </a:pPr>
            <a:r>
              <a:rPr lang="en-US" b="1" i="0" dirty="0">
                <a:solidFill>
                  <a:srgbClr val="282523"/>
                </a:solidFill>
                <a:effectLst/>
                <a:latin typeface="Ginto"/>
              </a:rPr>
              <a:t>Total Revenue:</a:t>
            </a:r>
            <a:r>
              <a:rPr lang="en-US" b="0" i="0" dirty="0">
                <a:solidFill>
                  <a:srgbClr val="282523"/>
                </a:solidFill>
                <a:effectLst/>
                <a:latin typeface="Ginto"/>
              </a:rPr>
              <a:t> 322.97K</a:t>
            </a:r>
          </a:p>
          <a:p>
            <a:pPr>
              <a:spcBef>
                <a:spcPts val="900"/>
              </a:spcBef>
            </a:pPr>
            <a:r>
              <a:rPr lang="en-US" b="1" i="0" dirty="0">
                <a:solidFill>
                  <a:srgbClr val="282523"/>
                </a:solidFill>
                <a:effectLst/>
                <a:latin typeface="Ginto"/>
              </a:rPr>
              <a:t>Gross Income:</a:t>
            </a:r>
            <a:r>
              <a:rPr lang="en-US" b="0" i="0" dirty="0">
                <a:solidFill>
                  <a:srgbClr val="282523"/>
                </a:solidFill>
                <a:effectLst/>
                <a:latin typeface="Ginto"/>
              </a:rPr>
              <a:t> 15.38K</a:t>
            </a:r>
          </a:p>
          <a:p>
            <a:pPr>
              <a:spcBef>
                <a:spcPts val="900"/>
              </a:spcBef>
            </a:pPr>
            <a:r>
              <a:rPr lang="en-US" b="1" i="0" dirty="0">
                <a:solidFill>
                  <a:srgbClr val="282523"/>
                </a:solidFill>
                <a:effectLst/>
                <a:latin typeface="Ginto"/>
              </a:rPr>
              <a:t>Average Transaction Value:</a:t>
            </a:r>
            <a:r>
              <a:rPr lang="en-US" b="0" i="0" dirty="0">
                <a:solidFill>
                  <a:srgbClr val="282523"/>
                </a:solidFill>
                <a:effectLst/>
                <a:latin typeface="Ginto"/>
              </a:rPr>
              <a:t> 322.97</a:t>
            </a:r>
          </a:p>
          <a:p>
            <a:pPr>
              <a:spcBef>
                <a:spcPts val="900"/>
              </a:spcBef>
            </a:pPr>
            <a:r>
              <a:rPr lang="en-US" b="1" i="0" dirty="0">
                <a:solidFill>
                  <a:srgbClr val="282523"/>
                </a:solidFill>
                <a:effectLst/>
                <a:latin typeface="Ginto"/>
              </a:rPr>
              <a:t>Number of Transactions:</a:t>
            </a:r>
            <a:r>
              <a:rPr lang="en-US" b="0" i="0" dirty="0">
                <a:solidFill>
                  <a:srgbClr val="282523"/>
                </a:solidFill>
                <a:effectLst/>
                <a:latin typeface="Ginto"/>
              </a:rPr>
              <a:t> 1000</a:t>
            </a:r>
          </a:p>
          <a:p>
            <a:endParaRPr lang="en-IN" dirty="0"/>
          </a:p>
        </p:txBody>
      </p:sp>
      <p:pic>
        <p:nvPicPr>
          <p:cNvPr id="5" name="Picture 4">
            <a:extLst>
              <a:ext uri="{FF2B5EF4-FFF2-40B4-BE49-F238E27FC236}">
                <a16:creationId xmlns:a16="http://schemas.microsoft.com/office/drawing/2014/main" id="{0F7691CF-A658-D2C1-2E7A-23183D3A9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307" y="4774133"/>
            <a:ext cx="10631384" cy="1457528"/>
          </a:xfrm>
          <a:prstGeom prst="rect">
            <a:avLst/>
          </a:prstGeom>
        </p:spPr>
      </p:pic>
    </p:spTree>
    <p:extLst>
      <p:ext uri="{BB962C8B-B14F-4D97-AF65-F5344CB8AC3E}">
        <p14:creationId xmlns:p14="http://schemas.microsoft.com/office/powerpoint/2010/main" val="132956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5C5B6-1611-C2C1-B69E-96F4424216C4}"/>
              </a:ext>
            </a:extLst>
          </p:cNvPr>
          <p:cNvSpPr>
            <a:spLocks noGrp="1"/>
          </p:cNvSpPr>
          <p:nvPr>
            <p:ph type="title"/>
          </p:nvPr>
        </p:nvSpPr>
        <p:spPr/>
        <p:txBody>
          <a:bodyPr/>
          <a:lstStyle/>
          <a:p>
            <a:r>
              <a:rPr lang="en-US" dirty="0"/>
              <a:t>Sales Trends</a:t>
            </a:r>
            <a:endParaRPr lang="en-IN" dirty="0"/>
          </a:p>
        </p:txBody>
      </p:sp>
      <p:pic>
        <p:nvPicPr>
          <p:cNvPr id="5" name="Content Placeholder 4">
            <a:extLst>
              <a:ext uri="{FF2B5EF4-FFF2-40B4-BE49-F238E27FC236}">
                <a16:creationId xmlns:a16="http://schemas.microsoft.com/office/drawing/2014/main" id="{1915FAC5-B9FD-CD6A-1AF7-15DB8DE02C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18138" y="1692133"/>
            <a:ext cx="5470525" cy="3473735"/>
          </a:xfrm>
        </p:spPr>
      </p:pic>
      <p:sp>
        <p:nvSpPr>
          <p:cNvPr id="9" name="Text Placeholder 8">
            <a:extLst>
              <a:ext uri="{FF2B5EF4-FFF2-40B4-BE49-F238E27FC236}">
                <a16:creationId xmlns:a16="http://schemas.microsoft.com/office/drawing/2014/main" id="{85CC223E-01EB-A25E-83B1-82E97E587797}"/>
              </a:ext>
            </a:extLst>
          </p:cNvPr>
          <p:cNvSpPr>
            <a:spLocks noGrp="1"/>
          </p:cNvSpPr>
          <p:nvPr>
            <p:ph type="body" sz="half" idx="2"/>
          </p:nvPr>
        </p:nvSpPr>
        <p:spPr/>
        <p:txBody>
          <a:bodyPr>
            <a:normAutofit fontScale="85000" lnSpcReduction="20000"/>
          </a:bodyPr>
          <a:lstStyle/>
          <a:p>
            <a:pPr algn="l">
              <a:spcAft>
                <a:spcPts val="1200"/>
              </a:spcAft>
              <a:buFont typeface="Arial" panose="020B0604020202020204" pitchFamily="34" charset="0"/>
              <a:buChar char="•"/>
            </a:pPr>
            <a:r>
              <a:rPr lang="en-US" b="0" i="0" dirty="0">
                <a:solidFill>
                  <a:srgbClr val="0D0D0D"/>
                </a:solidFill>
                <a:effectLst/>
                <a:latin typeface="ui-sans-serif"/>
              </a:rPr>
              <a:t>The highest sale was recorded on March 9, amounting to 7.47K.</a:t>
            </a:r>
          </a:p>
          <a:p>
            <a:pPr algn="l">
              <a:spcAft>
                <a:spcPts val="1200"/>
              </a:spcAft>
              <a:buFont typeface="Arial" panose="020B0604020202020204" pitchFamily="34" charset="0"/>
              <a:buChar char="•"/>
            </a:pPr>
            <a:r>
              <a:rPr lang="en-US" b="0" i="0" dirty="0">
                <a:solidFill>
                  <a:srgbClr val="0D0D0D"/>
                </a:solidFill>
                <a:effectLst/>
                <a:latin typeface="ui-sans-serif"/>
              </a:rPr>
              <a:t>The lowest sale occurred on February 13, with 934.24.</a:t>
            </a:r>
          </a:p>
          <a:p>
            <a:pPr algn="l">
              <a:spcAft>
                <a:spcPts val="1200"/>
              </a:spcAft>
              <a:buFont typeface="Arial" panose="020B0604020202020204" pitchFamily="34" charset="0"/>
              <a:buChar char="•"/>
            </a:pPr>
            <a:r>
              <a:rPr lang="en-US" b="0" i="0" dirty="0">
                <a:solidFill>
                  <a:srgbClr val="0D0D0D"/>
                </a:solidFill>
                <a:effectLst/>
                <a:latin typeface="ui-sans-serif"/>
              </a:rPr>
              <a:t>The data reflects fluctuations without any consistent upward or downward trend.</a:t>
            </a:r>
          </a:p>
          <a:p>
            <a:pPr algn="l">
              <a:spcAft>
                <a:spcPts val="1200"/>
              </a:spcAft>
              <a:buFont typeface="Arial" panose="020B0604020202020204" pitchFamily="34" charset="0"/>
              <a:buChar char="•"/>
            </a:pPr>
            <a:r>
              <a:rPr lang="en-US" b="0" i="0" dirty="0">
                <a:solidFill>
                  <a:srgbClr val="0D0D0D"/>
                </a:solidFill>
                <a:effectLst/>
                <a:latin typeface="ui-sans-serif"/>
              </a:rPr>
              <a:t>January saw higher sales compared to February and March, with 352 transactions totaling 116.2K.</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4206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715041-EDF9-8055-F936-13844616593D}"/>
              </a:ext>
            </a:extLst>
          </p:cNvPr>
          <p:cNvSpPr>
            <a:spLocks noGrp="1"/>
          </p:cNvSpPr>
          <p:nvPr>
            <p:ph type="title"/>
          </p:nvPr>
        </p:nvSpPr>
        <p:spPr>
          <a:xfrm>
            <a:off x="-1465081" y="443374"/>
            <a:ext cx="10515600" cy="1325563"/>
          </a:xfrm>
        </p:spPr>
        <p:txBody>
          <a:bodyPr/>
          <a:lstStyle/>
          <a:p>
            <a:r>
              <a:rPr lang="en-IN" dirty="0"/>
              <a:t>Branch &amp; City Performance</a:t>
            </a:r>
          </a:p>
        </p:txBody>
      </p:sp>
      <p:sp>
        <p:nvSpPr>
          <p:cNvPr id="9" name="Text Placeholder 8">
            <a:extLst>
              <a:ext uri="{FF2B5EF4-FFF2-40B4-BE49-F238E27FC236}">
                <a16:creationId xmlns:a16="http://schemas.microsoft.com/office/drawing/2014/main" id="{56A17A19-10FF-AEB6-AEBC-DC0114F08094}"/>
              </a:ext>
            </a:extLst>
          </p:cNvPr>
          <p:cNvSpPr>
            <a:spLocks noGrp="1"/>
          </p:cNvSpPr>
          <p:nvPr>
            <p:ph type="body" sz="half" idx="4294967295"/>
          </p:nvPr>
        </p:nvSpPr>
        <p:spPr>
          <a:xfrm>
            <a:off x="641023" y="1625669"/>
            <a:ext cx="5770563" cy="811213"/>
          </a:xfrm>
        </p:spPr>
        <p:txBody>
          <a:bodyPr>
            <a:normAutofit lnSpcReduction="10000"/>
          </a:bodyPr>
          <a:lstStyle/>
          <a:p>
            <a:pPr algn="l">
              <a:spcAft>
                <a:spcPts val="1200"/>
              </a:spcAft>
              <a:buFont typeface="Arial" panose="020B0604020202020204" pitchFamily="34" charset="0"/>
              <a:buChar char="•"/>
            </a:pPr>
            <a:r>
              <a:rPr lang="en-US" b="0" i="0" dirty="0">
                <a:solidFill>
                  <a:srgbClr val="0D0D0D"/>
                </a:solidFill>
                <a:effectLst/>
                <a:latin typeface="ui-sans-serif"/>
              </a:rPr>
              <a:t>Each branch contributes nearly equally to the overall performance.</a:t>
            </a:r>
          </a:p>
        </p:txBody>
      </p:sp>
      <p:pic>
        <p:nvPicPr>
          <p:cNvPr id="13" name="Content Placeholder 12">
            <a:extLst>
              <a:ext uri="{FF2B5EF4-FFF2-40B4-BE49-F238E27FC236}">
                <a16:creationId xmlns:a16="http://schemas.microsoft.com/office/drawing/2014/main" id="{114BA5A1-6413-D1DA-67F5-7540D02BF724}"/>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810706" y="3703692"/>
            <a:ext cx="4396046" cy="2482741"/>
          </a:xfrm>
        </p:spPr>
      </p:pic>
      <p:pic>
        <p:nvPicPr>
          <p:cNvPr id="15" name="Picture 14">
            <a:extLst>
              <a:ext uri="{FF2B5EF4-FFF2-40B4-BE49-F238E27FC236}">
                <a16:creationId xmlns:a16="http://schemas.microsoft.com/office/drawing/2014/main" id="{6C1208A6-F4FC-690C-C9EA-3D957BBA44B1}"/>
              </a:ext>
            </a:extLst>
          </p:cNvPr>
          <p:cNvPicPr>
            <a:picLocks noChangeAspect="1"/>
          </p:cNvPicPr>
          <p:nvPr/>
        </p:nvPicPr>
        <p:blipFill>
          <a:blip r:embed="rId3"/>
          <a:stretch>
            <a:fillRect/>
          </a:stretch>
        </p:blipFill>
        <p:spPr>
          <a:xfrm>
            <a:off x="7515502" y="1050712"/>
            <a:ext cx="3932238" cy="2206838"/>
          </a:xfrm>
          <a:prstGeom prst="rect">
            <a:avLst/>
          </a:prstGeom>
        </p:spPr>
      </p:pic>
      <p:pic>
        <p:nvPicPr>
          <p:cNvPr id="17" name="Picture 16">
            <a:extLst>
              <a:ext uri="{FF2B5EF4-FFF2-40B4-BE49-F238E27FC236}">
                <a16:creationId xmlns:a16="http://schemas.microsoft.com/office/drawing/2014/main" id="{9C0B38EB-673F-8EEE-9841-61D299AA21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7583" y="3600450"/>
            <a:ext cx="4641963" cy="2585983"/>
          </a:xfrm>
          <a:prstGeom prst="rect">
            <a:avLst/>
          </a:prstGeom>
        </p:spPr>
      </p:pic>
      <p:sp>
        <p:nvSpPr>
          <p:cNvPr id="19" name="TextBox 18">
            <a:extLst>
              <a:ext uri="{FF2B5EF4-FFF2-40B4-BE49-F238E27FC236}">
                <a16:creationId xmlns:a16="http://schemas.microsoft.com/office/drawing/2014/main" id="{F4147911-A005-C4BE-DDC9-902D7DC64DF8}"/>
              </a:ext>
            </a:extLst>
          </p:cNvPr>
          <p:cNvSpPr txBox="1"/>
          <p:nvPr/>
        </p:nvSpPr>
        <p:spPr>
          <a:xfrm>
            <a:off x="7654565" y="3218411"/>
            <a:ext cx="4174761" cy="369332"/>
          </a:xfrm>
          <a:prstGeom prst="rect">
            <a:avLst/>
          </a:prstGeom>
          <a:noFill/>
        </p:spPr>
        <p:txBody>
          <a:bodyPr wrap="square">
            <a:spAutoFit/>
          </a:bodyPr>
          <a:lstStyle/>
          <a:p>
            <a:pPr marL="1200150" lvl="2" indent="-285750">
              <a:spcAft>
                <a:spcPts val="1200"/>
              </a:spcAft>
              <a:buFont typeface="Arial" panose="020B0604020202020204" pitchFamily="34" charset="0"/>
              <a:buChar char="•"/>
            </a:pPr>
            <a:r>
              <a:rPr lang="en-US" b="0" i="0" dirty="0">
                <a:solidFill>
                  <a:srgbClr val="0D0D0D"/>
                </a:solidFill>
                <a:effectLst/>
                <a:latin typeface="ui-sans-serif"/>
              </a:rPr>
              <a:t>Branch A</a:t>
            </a:r>
          </a:p>
        </p:txBody>
      </p:sp>
      <p:sp>
        <p:nvSpPr>
          <p:cNvPr id="21" name="TextBox 20">
            <a:extLst>
              <a:ext uri="{FF2B5EF4-FFF2-40B4-BE49-F238E27FC236}">
                <a16:creationId xmlns:a16="http://schemas.microsoft.com/office/drawing/2014/main" id="{A80DA8A4-D5FA-FD91-C9FA-40E0C3C9B026}"/>
              </a:ext>
            </a:extLst>
          </p:cNvPr>
          <p:cNvSpPr txBox="1"/>
          <p:nvPr/>
        </p:nvSpPr>
        <p:spPr>
          <a:xfrm>
            <a:off x="8201318" y="651565"/>
            <a:ext cx="4748734" cy="369332"/>
          </a:xfrm>
          <a:prstGeom prst="rect">
            <a:avLst/>
          </a:prstGeom>
          <a:noFill/>
        </p:spPr>
        <p:txBody>
          <a:bodyPr wrap="square">
            <a:spAutoFit/>
          </a:bodyPr>
          <a:lstStyle/>
          <a:p>
            <a:pPr algn="l">
              <a:spcAft>
                <a:spcPts val="1200"/>
              </a:spcAft>
              <a:buFont typeface="Arial" panose="020B0604020202020204" pitchFamily="34" charset="0"/>
              <a:buChar char="•"/>
            </a:pPr>
            <a:r>
              <a:rPr lang="en-US" b="0" i="0" dirty="0">
                <a:solidFill>
                  <a:srgbClr val="0D0D0D"/>
                </a:solidFill>
                <a:effectLst/>
                <a:latin typeface="ui-sans-serif"/>
              </a:rPr>
              <a:t> Branch C</a:t>
            </a:r>
          </a:p>
        </p:txBody>
      </p:sp>
      <p:sp>
        <p:nvSpPr>
          <p:cNvPr id="23" name="TextBox 22">
            <a:extLst>
              <a:ext uri="{FF2B5EF4-FFF2-40B4-BE49-F238E27FC236}">
                <a16:creationId xmlns:a16="http://schemas.microsoft.com/office/drawing/2014/main" id="{AACBB312-DE09-02EA-FF26-8F9A4622F735}"/>
              </a:ext>
            </a:extLst>
          </p:cNvPr>
          <p:cNvSpPr txBox="1"/>
          <p:nvPr/>
        </p:nvSpPr>
        <p:spPr>
          <a:xfrm>
            <a:off x="2394408" y="3262946"/>
            <a:ext cx="4396046" cy="369332"/>
          </a:xfrm>
          <a:prstGeom prst="rect">
            <a:avLst/>
          </a:prstGeom>
          <a:noFill/>
        </p:spPr>
        <p:txBody>
          <a:bodyPr wrap="square">
            <a:spAutoFit/>
          </a:bodyPr>
          <a:lstStyle/>
          <a:p>
            <a:pPr algn="l">
              <a:spcAft>
                <a:spcPts val="1200"/>
              </a:spcAft>
              <a:buFont typeface="Arial" panose="020B0604020202020204" pitchFamily="34" charset="0"/>
              <a:buChar char="•"/>
            </a:pPr>
            <a:r>
              <a:rPr lang="en-US" b="0" i="0" dirty="0">
                <a:solidFill>
                  <a:srgbClr val="0D0D0D"/>
                </a:solidFill>
                <a:effectLst/>
                <a:latin typeface="ui-sans-serif"/>
              </a:rPr>
              <a:t>  Branch B</a:t>
            </a:r>
          </a:p>
        </p:txBody>
      </p:sp>
    </p:spTree>
    <p:extLst>
      <p:ext uri="{BB962C8B-B14F-4D97-AF65-F5344CB8AC3E}">
        <p14:creationId xmlns:p14="http://schemas.microsoft.com/office/powerpoint/2010/main" val="3187142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CF362-EE50-F8C3-8105-8E7AB11FA9A6}"/>
              </a:ext>
            </a:extLst>
          </p:cNvPr>
          <p:cNvSpPr>
            <a:spLocks noGrp="1"/>
          </p:cNvSpPr>
          <p:nvPr>
            <p:ph type="title"/>
          </p:nvPr>
        </p:nvSpPr>
        <p:spPr>
          <a:xfrm>
            <a:off x="701514" y="1049393"/>
            <a:ext cx="9601196" cy="1303867"/>
          </a:xfrm>
        </p:spPr>
        <p:txBody>
          <a:bodyPr/>
          <a:lstStyle/>
          <a:p>
            <a:r>
              <a:rPr lang="en-IN" dirty="0"/>
              <a:t>Customer Insights </a:t>
            </a:r>
          </a:p>
        </p:txBody>
      </p:sp>
      <p:sp>
        <p:nvSpPr>
          <p:cNvPr id="5" name="Content Placeholder 4">
            <a:extLst>
              <a:ext uri="{FF2B5EF4-FFF2-40B4-BE49-F238E27FC236}">
                <a16:creationId xmlns:a16="http://schemas.microsoft.com/office/drawing/2014/main" id="{461A658C-AC0F-802E-4CDB-E5101C3AB0C9}"/>
              </a:ext>
            </a:extLst>
          </p:cNvPr>
          <p:cNvSpPr>
            <a:spLocks noGrp="1"/>
          </p:cNvSpPr>
          <p:nvPr>
            <p:ph idx="1"/>
          </p:nvPr>
        </p:nvSpPr>
        <p:spPr/>
        <p:txBody>
          <a:bodyPr>
            <a:normAutofit fontScale="85000" lnSpcReduction="10000"/>
          </a:bodyPr>
          <a:lstStyle/>
          <a:p>
            <a:pPr algn="l">
              <a:spcAft>
                <a:spcPts val="1200"/>
              </a:spcAft>
              <a:buFont typeface="Arial" panose="020B0604020202020204" pitchFamily="34" charset="0"/>
              <a:buChar char="•"/>
            </a:pPr>
            <a:r>
              <a:rPr lang="en-US" b="0" i="0" dirty="0">
                <a:solidFill>
                  <a:srgbClr val="0D0D0D"/>
                </a:solidFill>
                <a:effectLst/>
                <a:latin typeface="ui-sans-serif"/>
              </a:rPr>
              <a:t>Male and female customers have nearly the same</a:t>
            </a:r>
          </a:p>
          <a:p>
            <a:pPr marL="0" indent="0" algn="l">
              <a:spcAft>
                <a:spcPts val="1200"/>
              </a:spcAft>
              <a:buNone/>
            </a:pPr>
            <a:r>
              <a:rPr lang="en-US" b="0" i="0" dirty="0">
                <a:solidFill>
                  <a:srgbClr val="0D0D0D"/>
                </a:solidFill>
                <a:effectLst/>
                <a:latin typeface="ui-sans-serif"/>
              </a:rPr>
              <a:t> total purchase amounts.</a:t>
            </a:r>
          </a:p>
          <a:p>
            <a:pPr algn="l">
              <a:spcAft>
                <a:spcPts val="1200"/>
              </a:spcAft>
              <a:buFont typeface="Arial" panose="020B0604020202020204" pitchFamily="34" charset="0"/>
              <a:buChar char="•"/>
            </a:pPr>
            <a:r>
              <a:rPr lang="en-US" b="0" i="0" dirty="0">
                <a:solidFill>
                  <a:srgbClr val="0D0D0D"/>
                </a:solidFill>
                <a:effectLst/>
                <a:latin typeface="ui-sans-serif"/>
              </a:rPr>
              <a:t>Female customers tend to focus more on the Health</a:t>
            </a:r>
          </a:p>
          <a:p>
            <a:pPr marL="0" indent="0" algn="l">
              <a:spcAft>
                <a:spcPts val="1200"/>
              </a:spcAft>
              <a:buNone/>
            </a:pPr>
            <a:r>
              <a:rPr lang="en-US" b="0" i="0" dirty="0">
                <a:solidFill>
                  <a:srgbClr val="0D0D0D"/>
                </a:solidFill>
                <a:effectLst/>
                <a:latin typeface="ui-sans-serif"/>
              </a:rPr>
              <a:t> and Lifestyle category.</a:t>
            </a:r>
          </a:p>
          <a:p>
            <a:pPr algn="l">
              <a:spcAft>
                <a:spcPts val="1200"/>
              </a:spcAft>
              <a:buFont typeface="Arial" panose="020B0604020202020204" pitchFamily="34" charset="0"/>
              <a:buChar char="•"/>
            </a:pPr>
            <a:r>
              <a:rPr lang="en-US" b="0" i="0" dirty="0">
                <a:solidFill>
                  <a:srgbClr val="0D0D0D"/>
                </a:solidFill>
                <a:effectLst/>
                <a:latin typeface="ui-sans-serif"/>
              </a:rPr>
              <a:t>Male customers show higher interest in Food &amp; Beverages and Electronic Accessories.</a:t>
            </a:r>
          </a:p>
          <a:p>
            <a:pPr algn="l">
              <a:spcAft>
                <a:spcPts val="1200"/>
              </a:spcAft>
              <a:buFont typeface="Arial" panose="020B0604020202020204" pitchFamily="34" charset="0"/>
              <a:buChar char="•"/>
            </a:pPr>
            <a:r>
              <a:rPr lang="en-US" b="0" i="0" dirty="0">
                <a:solidFill>
                  <a:srgbClr val="0D0D0D"/>
                </a:solidFill>
                <a:effectLst/>
                <a:latin typeface="ui-sans-serif"/>
              </a:rPr>
              <a:t>More males have opted for subscriptions compared to females.</a:t>
            </a:r>
          </a:p>
          <a:p>
            <a:pPr algn="l">
              <a:spcAft>
                <a:spcPts val="1200"/>
              </a:spcAft>
              <a:buFont typeface="Arial" panose="020B0604020202020204" pitchFamily="34" charset="0"/>
              <a:buChar char="•"/>
            </a:pPr>
            <a:r>
              <a:rPr lang="en-US" b="0" i="0" dirty="0">
                <a:solidFill>
                  <a:srgbClr val="0D0D0D"/>
                </a:solidFill>
                <a:effectLst/>
                <a:latin typeface="ui-sans-serif"/>
              </a:rPr>
              <a:t>The average transaction value for males is ₹335.10, while for females it is ₹310.79.</a:t>
            </a:r>
          </a:p>
        </p:txBody>
      </p:sp>
      <p:pic>
        <p:nvPicPr>
          <p:cNvPr id="4" name="Picture 3">
            <a:extLst>
              <a:ext uri="{FF2B5EF4-FFF2-40B4-BE49-F238E27FC236}">
                <a16:creationId xmlns:a16="http://schemas.microsoft.com/office/drawing/2014/main" id="{92AF95BA-89FD-0442-296B-9291B6ABE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0410" y="914785"/>
            <a:ext cx="3181794" cy="2876951"/>
          </a:xfrm>
          <a:prstGeom prst="rect">
            <a:avLst/>
          </a:prstGeom>
        </p:spPr>
      </p:pic>
    </p:spTree>
    <p:extLst>
      <p:ext uri="{BB962C8B-B14F-4D97-AF65-F5344CB8AC3E}">
        <p14:creationId xmlns:p14="http://schemas.microsoft.com/office/powerpoint/2010/main" val="2374274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16E18-B132-78D8-4C16-FBC8ED0BBAE5}"/>
              </a:ext>
            </a:extLst>
          </p:cNvPr>
          <p:cNvSpPr>
            <a:spLocks noGrp="1"/>
          </p:cNvSpPr>
          <p:nvPr>
            <p:ph type="title"/>
          </p:nvPr>
        </p:nvSpPr>
        <p:spPr>
          <a:xfrm>
            <a:off x="1069159" y="409290"/>
            <a:ext cx="9601196" cy="1303867"/>
          </a:xfrm>
        </p:spPr>
        <p:txBody>
          <a:bodyPr/>
          <a:lstStyle/>
          <a:p>
            <a:r>
              <a:rPr lang="en-US" dirty="0"/>
              <a:t>Product Performance</a:t>
            </a:r>
            <a:endParaRPr lang="en-IN" dirty="0"/>
          </a:p>
        </p:txBody>
      </p:sp>
      <p:sp>
        <p:nvSpPr>
          <p:cNvPr id="3" name="Content Placeholder 2">
            <a:extLst>
              <a:ext uri="{FF2B5EF4-FFF2-40B4-BE49-F238E27FC236}">
                <a16:creationId xmlns:a16="http://schemas.microsoft.com/office/drawing/2014/main" id="{DE215E2A-9077-6C7B-07E3-479B3EB44071}"/>
              </a:ext>
            </a:extLst>
          </p:cNvPr>
          <p:cNvSpPr>
            <a:spLocks noGrp="1"/>
          </p:cNvSpPr>
          <p:nvPr>
            <p:ph idx="1"/>
          </p:nvPr>
        </p:nvSpPr>
        <p:spPr>
          <a:xfrm>
            <a:off x="838200" y="4506012"/>
            <a:ext cx="10515600" cy="1741766"/>
          </a:xfrm>
        </p:spPr>
        <p:txBody>
          <a:bodyPr>
            <a:normAutofit fontScale="92500" lnSpcReduction="10000"/>
          </a:bodyPr>
          <a:lstStyle/>
          <a:p>
            <a:pPr algn="l">
              <a:spcAft>
                <a:spcPts val="1200"/>
              </a:spcAft>
              <a:buFont typeface="Arial" panose="020B0604020202020204" pitchFamily="34" charset="0"/>
              <a:buChar char="•"/>
            </a:pPr>
            <a:r>
              <a:rPr lang="en-US" b="1" i="0" dirty="0">
                <a:solidFill>
                  <a:srgbClr val="0D0D0D"/>
                </a:solidFill>
                <a:effectLst/>
                <a:latin typeface="ui-sans-serif"/>
              </a:rPr>
              <a:t>Food and Beverages</a:t>
            </a:r>
            <a:r>
              <a:rPr lang="en-US" b="0" i="0" dirty="0">
                <a:solidFill>
                  <a:srgbClr val="0D0D0D"/>
                </a:solidFill>
                <a:effectLst/>
                <a:latin typeface="ui-sans-serif"/>
              </a:rPr>
              <a:t> is the highest-selling category with ₹56.14K in sales.</a:t>
            </a:r>
          </a:p>
          <a:p>
            <a:pPr algn="l">
              <a:spcAft>
                <a:spcPts val="1200"/>
              </a:spcAft>
              <a:buFont typeface="Arial" panose="020B0604020202020204" pitchFamily="34" charset="0"/>
              <a:buChar char="•"/>
            </a:pPr>
            <a:r>
              <a:rPr lang="en-US" b="1" i="0" dirty="0">
                <a:solidFill>
                  <a:srgbClr val="0D0D0D"/>
                </a:solidFill>
                <a:effectLst/>
                <a:latin typeface="ui-sans-serif"/>
              </a:rPr>
              <a:t>Health and Beauty</a:t>
            </a:r>
            <a:r>
              <a:rPr lang="en-US" b="0" i="0" dirty="0">
                <a:solidFill>
                  <a:srgbClr val="0D0D0D"/>
                </a:solidFill>
                <a:effectLst/>
                <a:latin typeface="ui-sans-serif"/>
              </a:rPr>
              <a:t> is the lowest-selling category with ₹49.19K in sales.</a:t>
            </a:r>
          </a:p>
          <a:p>
            <a:pPr algn="l">
              <a:spcAft>
                <a:spcPts val="1200"/>
              </a:spcAft>
              <a:buFont typeface="Arial" panose="020B0604020202020204" pitchFamily="34" charset="0"/>
              <a:buChar char="•"/>
            </a:pPr>
            <a:r>
              <a:rPr lang="en-US" b="0" i="0" dirty="0">
                <a:solidFill>
                  <a:srgbClr val="0D0D0D"/>
                </a:solidFill>
                <a:effectLst/>
                <a:latin typeface="ui-sans-serif"/>
              </a:rPr>
              <a:t>For </a:t>
            </a:r>
            <a:r>
              <a:rPr lang="en-US" b="1" i="0" dirty="0">
                <a:solidFill>
                  <a:srgbClr val="0D0D0D"/>
                </a:solidFill>
                <a:effectLst/>
                <a:latin typeface="ui-sans-serif"/>
              </a:rPr>
              <a:t>Home and Lifestyle</a:t>
            </a:r>
            <a:r>
              <a:rPr lang="en-US" b="0" i="0" dirty="0">
                <a:solidFill>
                  <a:srgbClr val="0D0D0D"/>
                </a:solidFill>
                <a:effectLst/>
                <a:latin typeface="ui-sans-serif"/>
              </a:rPr>
              <a:t> purchases, customers prefer using </a:t>
            </a:r>
            <a:r>
              <a:rPr lang="en-US" b="1" i="0" dirty="0">
                <a:solidFill>
                  <a:srgbClr val="0D0D0D"/>
                </a:solidFill>
                <a:effectLst/>
                <a:latin typeface="ui-sans-serif"/>
              </a:rPr>
              <a:t>credit cards</a:t>
            </a:r>
            <a:r>
              <a:rPr lang="en-US" b="0" i="0" dirty="0">
                <a:solidFill>
                  <a:srgbClr val="0D0D0D"/>
                </a:solidFill>
                <a:effectLst/>
                <a:latin typeface="ui-sans-serif"/>
              </a:rPr>
              <a:t> over e-wallets and cash</a:t>
            </a:r>
          </a:p>
        </p:txBody>
      </p:sp>
      <p:pic>
        <p:nvPicPr>
          <p:cNvPr id="5" name="Picture 4">
            <a:extLst>
              <a:ext uri="{FF2B5EF4-FFF2-40B4-BE49-F238E27FC236}">
                <a16:creationId xmlns:a16="http://schemas.microsoft.com/office/drawing/2014/main" id="{5C39768E-225F-4FA1-2320-0C48710CFD00}"/>
              </a:ext>
            </a:extLst>
          </p:cNvPr>
          <p:cNvPicPr>
            <a:picLocks noChangeAspect="1"/>
          </p:cNvPicPr>
          <p:nvPr/>
        </p:nvPicPr>
        <p:blipFill>
          <a:blip r:embed="rId2"/>
          <a:stretch>
            <a:fillRect/>
          </a:stretch>
        </p:blipFill>
        <p:spPr>
          <a:xfrm>
            <a:off x="1168922" y="1386959"/>
            <a:ext cx="9728464" cy="3119053"/>
          </a:xfrm>
          <a:prstGeom prst="rect">
            <a:avLst/>
          </a:prstGeom>
        </p:spPr>
      </p:pic>
    </p:spTree>
    <p:extLst>
      <p:ext uri="{BB962C8B-B14F-4D97-AF65-F5344CB8AC3E}">
        <p14:creationId xmlns:p14="http://schemas.microsoft.com/office/powerpoint/2010/main" val="1859240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967E3-AB89-84DF-C2BF-6AEB05F908EF}"/>
              </a:ext>
            </a:extLst>
          </p:cNvPr>
          <p:cNvSpPr>
            <a:spLocks noGrp="1"/>
          </p:cNvSpPr>
          <p:nvPr>
            <p:ph type="title"/>
          </p:nvPr>
        </p:nvSpPr>
        <p:spPr/>
        <p:txBody>
          <a:bodyPr/>
          <a:lstStyle/>
          <a:p>
            <a:r>
              <a:rPr lang="en-IN" dirty="0"/>
              <a:t>Ratings &amp; Payment Preferences</a:t>
            </a:r>
          </a:p>
        </p:txBody>
      </p:sp>
      <p:sp>
        <p:nvSpPr>
          <p:cNvPr id="4" name="Text Placeholder 3">
            <a:extLst>
              <a:ext uri="{FF2B5EF4-FFF2-40B4-BE49-F238E27FC236}">
                <a16:creationId xmlns:a16="http://schemas.microsoft.com/office/drawing/2014/main" id="{621DEE20-77D2-7817-1989-4B37B99A5FE2}"/>
              </a:ext>
            </a:extLst>
          </p:cNvPr>
          <p:cNvSpPr>
            <a:spLocks noGrp="1"/>
          </p:cNvSpPr>
          <p:nvPr>
            <p:ph type="body" idx="1"/>
          </p:nvPr>
        </p:nvSpPr>
        <p:spPr>
          <a:xfrm>
            <a:off x="717240" y="2491868"/>
            <a:ext cx="5157787" cy="1325562"/>
          </a:xfrm>
        </p:spPr>
        <p:txBody>
          <a:bodyPr>
            <a:normAutofit/>
          </a:bodyPr>
          <a:lstStyle/>
          <a:p>
            <a:endParaRPr lang="en-US" dirty="0"/>
          </a:p>
          <a:p>
            <a:r>
              <a:rPr lang="en-US" dirty="0"/>
              <a:t>Average ratings across product lines</a:t>
            </a:r>
            <a:endParaRPr lang="en-IN" sz="2400" b="0" i="0" u="none" strike="noStrike" dirty="0">
              <a:solidFill>
                <a:srgbClr val="000000"/>
              </a:solidFill>
              <a:effectLst/>
              <a:latin typeface="Calibri" panose="020F0502020204030204" pitchFamily="34" charset="0"/>
            </a:endParaRPr>
          </a:p>
          <a:p>
            <a:endParaRPr lang="en-IN" dirty="0"/>
          </a:p>
        </p:txBody>
      </p:sp>
      <p:sp>
        <p:nvSpPr>
          <p:cNvPr id="3" name="Content Placeholder 2">
            <a:extLst>
              <a:ext uri="{FF2B5EF4-FFF2-40B4-BE49-F238E27FC236}">
                <a16:creationId xmlns:a16="http://schemas.microsoft.com/office/drawing/2014/main" id="{DE4AB4FD-F219-D4CA-6338-CDACCE66A622}"/>
              </a:ext>
            </a:extLst>
          </p:cNvPr>
          <p:cNvSpPr>
            <a:spLocks noGrp="1"/>
          </p:cNvSpPr>
          <p:nvPr>
            <p:ph sz="half" idx="2"/>
          </p:nvPr>
        </p:nvSpPr>
        <p:spPr/>
        <p:txBody>
          <a:bodyPr>
            <a:normAutofit fontScale="85000" lnSpcReduction="20000"/>
          </a:bodyPr>
          <a:lstStyle/>
          <a:p>
            <a:r>
              <a:rPr lang="en-IN" sz="2800" b="0" i="0" u="none" strike="noStrike" dirty="0">
                <a:solidFill>
                  <a:srgbClr val="000000"/>
                </a:solidFill>
                <a:effectLst/>
                <a:latin typeface="Calibri" panose="020F0502020204030204" pitchFamily="34" charset="0"/>
              </a:rPr>
              <a:t>Electronic accessories</a:t>
            </a:r>
            <a:r>
              <a:rPr lang="en-IN" dirty="0"/>
              <a:t> :</a:t>
            </a:r>
            <a:r>
              <a:rPr lang="en-IN" sz="2300" dirty="0">
                <a:latin typeface="Calibri" panose="020F0502020204030204" pitchFamily="34" charset="0"/>
                <a:ea typeface="Calibri" panose="020F0502020204030204" pitchFamily="34" charset="0"/>
                <a:cs typeface="Calibri" panose="020F0502020204030204" pitchFamily="34" charset="0"/>
              </a:rPr>
              <a:t>6.92</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sz="2800" b="0" i="0" u="none" strike="noStrike" dirty="0">
                <a:solidFill>
                  <a:srgbClr val="000000"/>
                </a:solidFill>
                <a:effectLst/>
                <a:latin typeface="Calibri" panose="020F0502020204030204" pitchFamily="34" charset="0"/>
              </a:rPr>
              <a:t> Home and lifestyle</a:t>
            </a:r>
            <a:r>
              <a:rPr lang="en-IN" dirty="0"/>
              <a:t> :</a:t>
            </a:r>
            <a:r>
              <a:rPr lang="en-IN" sz="2100" dirty="0">
                <a:latin typeface="Calibri" panose="020F0502020204030204" pitchFamily="34" charset="0"/>
                <a:ea typeface="Calibri" panose="020F0502020204030204" pitchFamily="34" charset="0"/>
                <a:cs typeface="Calibri" panose="020F0502020204030204" pitchFamily="34" charset="0"/>
              </a:rPr>
              <a:t>6.84</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sz="2800" b="0" i="0" u="none" strike="noStrike" dirty="0">
                <a:solidFill>
                  <a:srgbClr val="000000"/>
                </a:solidFill>
                <a:effectLst/>
                <a:latin typeface="Calibri" panose="020F0502020204030204" pitchFamily="34" charset="0"/>
              </a:rPr>
              <a:t>Health and beauty:</a:t>
            </a:r>
            <a:r>
              <a:rPr lang="en-IN" sz="2100" b="0" i="0" u="none" strike="noStrike" dirty="0">
                <a:solidFill>
                  <a:srgbClr val="000000"/>
                </a:solidFill>
                <a:effectLst/>
                <a:latin typeface="Calibri" panose="020F0502020204030204" pitchFamily="34" charset="0"/>
              </a:rPr>
              <a:t>7.00</a:t>
            </a:r>
            <a:endParaRPr lang="en-IN" sz="2800" b="0" i="0" u="none" strike="noStrike" dirty="0">
              <a:solidFill>
                <a:srgbClr val="000000"/>
              </a:solidFill>
              <a:effectLst/>
              <a:latin typeface="Calibri" panose="020F0502020204030204" pitchFamily="34" charset="0"/>
            </a:endParaRPr>
          </a:p>
          <a:p>
            <a:r>
              <a:rPr lang="en-IN" sz="2800" b="0" i="0" u="none" strike="noStrike" dirty="0">
                <a:solidFill>
                  <a:srgbClr val="000000"/>
                </a:solidFill>
                <a:effectLst/>
                <a:latin typeface="Calibri" panose="020F0502020204030204" pitchFamily="34" charset="0"/>
              </a:rPr>
              <a:t>Sports and travel</a:t>
            </a:r>
            <a:r>
              <a:rPr lang="en-IN" dirty="0"/>
              <a:t> :</a:t>
            </a:r>
            <a:r>
              <a:rPr lang="en-IN" sz="2100" dirty="0">
                <a:latin typeface="Calibri" panose="020F0502020204030204" pitchFamily="34" charset="0"/>
                <a:ea typeface="Calibri" panose="020F0502020204030204" pitchFamily="34" charset="0"/>
                <a:cs typeface="Calibri" panose="020F0502020204030204" pitchFamily="34" charset="0"/>
              </a:rPr>
              <a:t>6.92</a:t>
            </a:r>
            <a:endParaRPr lang="en-IN" sz="2800" dirty="0">
              <a:latin typeface="Calibri" panose="020F0502020204030204" pitchFamily="34" charset="0"/>
              <a:ea typeface="Calibri" panose="020F0502020204030204" pitchFamily="34" charset="0"/>
              <a:cs typeface="Calibri" panose="020F0502020204030204" pitchFamily="34" charset="0"/>
            </a:endParaRPr>
          </a:p>
          <a:p>
            <a:r>
              <a:rPr lang="en-IN" sz="2800" b="0" i="0" u="none" strike="noStrike" dirty="0">
                <a:solidFill>
                  <a:srgbClr val="000000"/>
                </a:solidFill>
                <a:effectLst/>
                <a:latin typeface="Calibri" panose="020F0502020204030204" pitchFamily="34" charset="0"/>
              </a:rPr>
              <a:t>Fashion accessories:</a:t>
            </a:r>
            <a:r>
              <a:rPr lang="en-IN" sz="2100" i="0" u="none" strike="noStrike" dirty="0">
                <a:solidFill>
                  <a:srgbClr val="000000"/>
                </a:solidFill>
                <a:effectLst/>
                <a:latin typeface="Calibri" panose="020F0502020204030204" pitchFamily="34" charset="0"/>
              </a:rPr>
              <a:t>7.03</a:t>
            </a:r>
            <a:endParaRPr lang="en-IN" sz="2800" i="0" u="none" strike="noStrike" dirty="0">
              <a:solidFill>
                <a:srgbClr val="000000"/>
              </a:solidFill>
              <a:effectLst/>
              <a:latin typeface="Calibri" panose="020F0502020204030204" pitchFamily="34" charset="0"/>
            </a:endParaRPr>
          </a:p>
          <a:p>
            <a:r>
              <a:rPr lang="en-IN" sz="2800" b="0" i="0" u="none" strike="noStrike" dirty="0">
                <a:solidFill>
                  <a:srgbClr val="000000"/>
                </a:solidFill>
                <a:effectLst/>
                <a:latin typeface="Calibri" panose="020F0502020204030204" pitchFamily="34" charset="0"/>
              </a:rPr>
              <a:t>Food and beverages: </a:t>
            </a:r>
            <a:r>
              <a:rPr lang="en-IN" sz="2100" b="0" i="0" u="none" strike="noStrike" dirty="0">
                <a:solidFill>
                  <a:srgbClr val="000000"/>
                </a:solidFill>
                <a:effectLst/>
                <a:latin typeface="Calibri" panose="020F0502020204030204" pitchFamily="34" charset="0"/>
              </a:rPr>
              <a:t>7.11</a:t>
            </a:r>
            <a:endParaRPr lang="en-IN" dirty="0"/>
          </a:p>
        </p:txBody>
      </p:sp>
      <p:sp>
        <p:nvSpPr>
          <p:cNvPr id="5" name="Text Placeholder 4">
            <a:extLst>
              <a:ext uri="{FF2B5EF4-FFF2-40B4-BE49-F238E27FC236}">
                <a16:creationId xmlns:a16="http://schemas.microsoft.com/office/drawing/2014/main" id="{0F35A1C3-64B5-C346-3B9C-11378DCA683C}"/>
              </a:ext>
            </a:extLst>
          </p:cNvPr>
          <p:cNvSpPr>
            <a:spLocks noGrp="1"/>
          </p:cNvSpPr>
          <p:nvPr>
            <p:ph type="body" sz="quarter" idx="3"/>
          </p:nvPr>
        </p:nvSpPr>
        <p:spPr/>
        <p:txBody>
          <a:bodyPr>
            <a:normAutofit/>
          </a:bodyPr>
          <a:lstStyle/>
          <a:p>
            <a:r>
              <a:rPr lang="en-IN" dirty="0"/>
              <a:t>Payment Preferences</a:t>
            </a:r>
          </a:p>
        </p:txBody>
      </p:sp>
      <p:sp>
        <p:nvSpPr>
          <p:cNvPr id="6" name="Content Placeholder 5">
            <a:extLst>
              <a:ext uri="{FF2B5EF4-FFF2-40B4-BE49-F238E27FC236}">
                <a16:creationId xmlns:a16="http://schemas.microsoft.com/office/drawing/2014/main" id="{EE33A7EC-57AB-EB77-C920-B32DC460402F}"/>
              </a:ext>
            </a:extLst>
          </p:cNvPr>
          <p:cNvSpPr>
            <a:spLocks noGrp="1"/>
          </p:cNvSpPr>
          <p:nvPr>
            <p:ph sz="quarter" idx="4"/>
          </p:nvPr>
        </p:nvSpPr>
        <p:spPr/>
        <p:txBody>
          <a:bodyPr>
            <a:normAutofit fontScale="85000" lnSpcReduction="20000"/>
          </a:bodyPr>
          <a:lstStyle/>
          <a:p>
            <a:r>
              <a:rPr lang="en-US" dirty="0"/>
              <a:t>Cash:34.74%</a:t>
            </a:r>
          </a:p>
          <a:p>
            <a:r>
              <a:rPr lang="en-US" dirty="0"/>
              <a:t>Ewallet:34.06%</a:t>
            </a:r>
          </a:p>
          <a:p>
            <a:r>
              <a:rPr lang="en-US" dirty="0"/>
              <a:t>Credit card:31.2%</a:t>
            </a:r>
          </a:p>
          <a:p>
            <a:endParaRPr lang="en-IN" dirty="0"/>
          </a:p>
        </p:txBody>
      </p:sp>
    </p:spTree>
    <p:extLst>
      <p:ext uri="{BB962C8B-B14F-4D97-AF65-F5344CB8AC3E}">
        <p14:creationId xmlns:p14="http://schemas.microsoft.com/office/powerpoint/2010/main" val="371461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4CDE56-17EA-03D0-A544-BDCA04105D15}"/>
              </a:ext>
            </a:extLst>
          </p:cNvPr>
          <p:cNvSpPr>
            <a:spLocks noGrp="1"/>
          </p:cNvSpPr>
          <p:nvPr>
            <p:ph type="title"/>
          </p:nvPr>
        </p:nvSpPr>
        <p:spPr>
          <a:xfrm>
            <a:off x="1210561" y="227988"/>
            <a:ext cx="8527328" cy="1252021"/>
          </a:xfrm>
        </p:spPr>
        <p:txBody>
          <a:bodyPr>
            <a:normAutofit/>
          </a:bodyPr>
          <a:lstStyle/>
          <a:p>
            <a:r>
              <a:rPr lang="en-IN" sz="2800" dirty="0"/>
              <a:t>Conclusion &amp; Key Takeaways</a:t>
            </a:r>
          </a:p>
        </p:txBody>
      </p:sp>
      <p:sp>
        <p:nvSpPr>
          <p:cNvPr id="9" name="Content Placeholder 8">
            <a:extLst>
              <a:ext uri="{FF2B5EF4-FFF2-40B4-BE49-F238E27FC236}">
                <a16:creationId xmlns:a16="http://schemas.microsoft.com/office/drawing/2014/main" id="{DB0382E6-DE2F-7EF4-451F-19D680E7104B}"/>
              </a:ext>
            </a:extLst>
          </p:cNvPr>
          <p:cNvSpPr>
            <a:spLocks noGrp="1"/>
          </p:cNvSpPr>
          <p:nvPr>
            <p:ph idx="1"/>
          </p:nvPr>
        </p:nvSpPr>
        <p:spPr>
          <a:xfrm>
            <a:off x="1210561" y="1020363"/>
            <a:ext cx="9601196" cy="3318936"/>
          </a:xfrm>
        </p:spPr>
        <p:txBody>
          <a:bodyPr>
            <a:normAutofit fontScale="25000" lnSpcReduction="20000"/>
          </a:bodyPr>
          <a:lstStyle/>
          <a:p>
            <a:pPr algn="l">
              <a:buNone/>
            </a:pPr>
            <a:r>
              <a:rPr lang="en-US" sz="7200" dirty="0">
                <a:solidFill>
                  <a:srgbClr val="0D0D0D"/>
                </a:solidFill>
                <a:latin typeface="ui-sans-serif"/>
              </a:rPr>
              <a:t>Conclusion</a:t>
            </a:r>
            <a:r>
              <a:rPr lang="en-US" dirty="0">
                <a:solidFill>
                  <a:srgbClr val="0D0D0D"/>
                </a:solidFill>
                <a:latin typeface="ui-sans-serif"/>
              </a:rPr>
              <a:t>:</a:t>
            </a:r>
            <a:endParaRPr lang="en-US" b="0" i="0" dirty="0">
              <a:solidFill>
                <a:srgbClr val="0D0D0D"/>
              </a:solidFill>
              <a:effectLst/>
              <a:latin typeface="ui-sans-serif"/>
            </a:endParaRPr>
          </a:p>
          <a:p>
            <a:pPr algn="l">
              <a:buNone/>
            </a:pPr>
            <a:r>
              <a:rPr lang="en-US" sz="6400" b="0" i="0" dirty="0">
                <a:solidFill>
                  <a:srgbClr val="0D0D0D"/>
                </a:solidFill>
                <a:effectLst/>
                <a:latin typeface="ui-sans-serif"/>
              </a:rPr>
              <a:t>     The overall performance indicates stable revenue with diverse customer engagement across branches and product categories. Sales patterns show no consistent trend but reflect high customer activity in January. Male and female customers exhibit similar purchasing behavior in terms of spending, with slight differences in category preferences. Payment methods are fairly balanced, with a slight tilt towards cash and e-wallets, while credit cards dominate specific segments like Home and Lifestyle.</a:t>
            </a:r>
          </a:p>
          <a:p>
            <a:pPr algn="l">
              <a:buNone/>
            </a:pPr>
            <a:r>
              <a:rPr lang="en-US" sz="7200" b="0" i="0" dirty="0">
                <a:solidFill>
                  <a:srgbClr val="0D0D0D"/>
                </a:solidFill>
                <a:effectLst/>
                <a:latin typeface="ui-sans-serif"/>
              </a:rPr>
              <a:t>Takeaways</a:t>
            </a:r>
            <a:r>
              <a:rPr lang="en-US" b="0" i="0" dirty="0">
                <a:solidFill>
                  <a:srgbClr val="0D0D0D"/>
                </a:solidFill>
                <a:effectLst/>
                <a:latin typeface="ui-sans-serif"/>
              </a:rPr>
              <a:t>:</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Total Revenue</a:t>
            </a:r>
            <a:r>
              <a:rPr lang="en-US" sz="4400" b="0" i="0" dirty="0">
                <a:solidFill>
                  <a:srgbClr val="0D0D0D"/>
                </a:solidFill>
                <a:effectLst/>
                <a:latin typeface="ui-sans-serif"/>
              </a:rPr>
              <a:t> reached ₹322.97K from </a:t>
            </a:r>
            <a:r>
              <a:rPr lang="en-US" sz="4400" b="1" i="0" dirty="0">
                <a:solidFill>
                  <a:srgbClr val="0D0D0D"/>
                </a:solidFill>
                <a:effectLst/>
                <a:latin typeface="ui-sans-serif"/>
              </a:rPr>
              <a:t>1,000 transactions</a:t>
            </a:r>
            <a:r>
              <a:rPr lang="en-US" sz="4400" b="0" i="0" dirty="0">
                <a:solidFill>
                  <a:srgbClr val="0D0D0D"/>
                </a:solidFill>
                <a:effectLst/>
                <a:latin typeface="ui-sans-serif"/>
              </a:rPr>
              <a:t>, with a healthy </a:t>
            </a:r>
            <a:r>
              <a:rPr lang="en-US" sz="4400" b="1" i="0" dirty="0">
                <a:solidFill>
                  <a:srgbClr val="0D0D0D"/>
                </a:solidFill>
                <a:effectLst/>
                <a:latin typeface="ui-sans-serif"/>
              </a:rPr>
              <a:t>gross income of ₹15.38K</a:t>
            </a:r>
            <a:r>
              <a:rPr lang="en-US" sz="4400" b="0" i="0" dirty="0">
                <a:solidFill>
                  <a:srgbClr val="0D0D0D"/>
                </a:solidFill>
                <a:effectLst/>
                <a:latin typeface="ui-sans-serif"/>
              </a:rPr>
              <a:t>.</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January</a:t>
            </a:r>
            <a:r>
              <a:rPr lang="en-US" sz="4400" b="0" i="0" dirty="0">
                <a:solidFill>
                  <a:srgbClr val="0D0D0D"/>
                </a:solidFill>
                <a:effectLst/>
                <a:latin typeface="ui-sans-serif"/>
              </a:rPr>
              <a:t> outperformed other months with </a:t>
            </a:r>
            <a:r>
              <a:rPr lang="en-US" sz="4400" b="1" i="0" dirty="0">
                <a:solidFill>
                  <a:srgbClr val="0D0D0D"/>
                </a:solidFill>
                <a:effectLst/>
                <a:latin typeface="ui-sans-serif"/>
              </a:rPr>
              <a:t>352 transactions totaling ₹116.2K</a:t>
            </a:r>
            <a:r>
              <a:rPr lang="en-US" sz="4400" b="0" i="0" dirty="0">
                <a:solidFill>
                  <a:srgbClr val="0D0D0D"/>
                </a:solidFill>
                <a:effectLst/>
                <a:latin typeface="ui-sans-serif"/>
              </a:rPr>
              <a:t>.</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Food and Beverages</a:t>
            </a:r>
            <a:r>
              <a:rPr lang="en-US" sz="4400" b="0" i="0" dirty="0">
                <a:solidFill>
                  <a:srgbClr val="0D0D0D"/>
                </a:solidFill>
                <a:effectLst/>
                <a:latin typeface="ui-sans-serif"/>
              </a:rPr>
              <a:t> is the top-performing category, while </a:t>
            </a:r>
            <a:r>
              <a:rPr lang="en-US" sz="4400" b="1" i="0" dirty="0">
                <a:solidFill>
                  <a:srgbClr val="0D0D0D"/>
                </a:solidFill>
                <a:effectLst/>
                <a:latin typeface="ui-sans-serif"/>
              </a:rPr>
              <a:t>Health and Beauty</a:t>
            </a:r>
            <a:r>
              <a:rPr lang="en-US" sz="4400" b="0" i="0" dirty="0">
                <a:solidFill>
                  <a:srgbClr val="0D0D0D"/>
                </a:solidFill>
                <a:effectLst/>
                <a:latin typeface="ui-sans-serif"/>
              </a:rPr>
              <a:t> lags behind.</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Male customers</a:t>
            </a:r>
            <a:r>
              <a:rPr lang="en-US" sz="4400" b="0" i="0" dirty="0">
                <a:solidFill>
                  <a:srgbClr val="0D0D0D"/>
                </a:solidFill>
                <a:effectLst/>
                <a:latin typeface="ui-sans-serif"/>
              </a:rPr>
              <a:t> are more inclined towards </a:t>
            </a:r>
            <a:r>
              <a:rPr lang="en-US" sz="4400" b="1" i="0" dirty="0">
                <a:solidFill>
                  <a:srgbClr val="0D0D0D"/>
                </a:solidFill>
                <a:effectLst/>
                <a:latin typeface="ui-sans-serif"/>
              </a:rPr>
              <a:t>electronics and food</a:t>
            </a:r>
            <a:r>
              <a:rPr lang="en-US" sz="4400" b="0" i="0" dirty="0">
                <a:solidFill>
                  <a:srgbClr val="0D0D0D"/>
                </a:solidFill>
                <a:effectLst/>
                <a:latin typeface="ui-sans-serif"/>
              </a:rPr>
              <a:t>, whereas </a:t>
            </a:r>
            <a:r>
              <a:rPr lang="en-US" sz="4400" b="1" i="0" dirty="0">
                <a:solidFill>
                  <a:srgbClr val="0D0D0D"/>
                </a:solidFill>
                <a:effectLst/>
                <a:latin typeface="ui-sans-serif"/>
              </a:rPr>
              <a:t>female customers</a:t>
            </a:r>
            <a:r>
              <a:rPr lang="en-US" sz="4400" b="0" i="0" dirty="0">
                <a:solidFill>
                  <a:srgbClr val="0D0D0D"/>
                </a:solidFill>
                <a:effectLst/>
                <a:latin typeface="ui-sans-serif"/>
              </a:rPr>
              <a:t> focus more on </a:t>
            </a:r>
            <a:r>
              <a:rPr lang="en-US" sz="4400" b="1" i="0" dirty="0">
                <a:solidFill>
                  <a:srgbClr val="0D0D0D"/>
                </a:solidFill>
                <a:effectLst/>
                <a:latin typeface="ui-sans-serif"/>
              </a:rPr>
              <a:t>health and lifestyle</a:t>
            </a:r>
            <a:r>
              <a:rPr lang="en-US" sz="4400" b="0" i="0" dirty="0">
                <a:solidFill>
                  <a:srgbClr val="0D0D0D"/>
                </a:solidFill>
                <a:effectLst/>
                <a:latin typeface="ui-sans-serif"/>
              </a:rPr>
              <a:t>.</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Subscription uptake is higher among males</a:t>
            </a:r>
            <a:r>
              <a:rPr lang="en-US" sz="4400" b="0" i="0" dirty="0">
                <a:solidFill>
                  <a:srgbClr val="0D0D0D"/>
                </a:solidFill>
                <a:effectLst/>
                <a:latin typeface="ui-sans-serif"/>
              </a:rPr>
              <a:t>, with males also showing a slightly higher average transaction value.</a:t>
            </a:r>
          </a:p>
          <a:p>
            <a:pPr algn="just">
              <a:lnSpc>
                <a:spcPct val="120000"/>
              </a:lnSpc>
              <a:spcBef>
                <a:spcPts val="600"/>
              </a:spcBef>
              <a:spcAft>
                <a:spcPts val="600"/>
              </a:spcAft>
              <a:buFont typeface="Arial" panose="020B0604020202020204" pitchFamily="34" charset="0"/>
              <a:buChar char="•"/>
            </a:pPr>
            <a:r>
              <a:rPr lang="en-US" sz="4400" b="0" i="0" dirty="0">
                <a:solidFill>
                  <a:srgbClr val="0D0D0D"/>
                </a:solidFill>
                <a:effectLst/>
                <a:latin typeface="ui-sans-serif"/>
              </a:rPr>
              <a:t>All </a:t>
            </a:r>
            <a:r>
              <a:rPr lang="en-US" sz="4400" b="1" i="0" dirty="0">
                <a:solidFill>
                  <a:srgbClr val="0D0D0D"/>
                </a:solidFill>
                <a:effectLst/>
                <a:latin typeface="ui-sans-serif"/>
              </a:rPr>
              <a:t>branches contribute almost equally</a:t>
            </a:r>
            <a:r>
              <a:rPr lang="en-US" sz="4400" b="0" i="0" dirty="0">
                <a:solidFill>
                  <a:srgbClr val="0D0D0D"/>
                </a:solidFill>
                <a:effectLst/>
                <a:latin typeface="ui-sans-serif"/>
              </a:rPr>
              <a:t>, indicating balanced operational performance.</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Payment methods</a:t>
            </a:r>
            <a:r>
              <a:rPr lang="en-US" sz="4400" b="0" i="0" dirty="0">
                <a:solidFill>
                  <a:srgbClr val="0D0D0D"/>
                </a:solidFill>
                <a:effectLst/>
                <a:latin typeface="ui-sans-serif"/>
              </a:rPr>
              <a:t> are well-distributed, with </a:t>
            </a:r>
            <a:r>
              <a:rPr lang="en-US" sz="4400" b="1" i="0" dirty="0">
                <a:solidFill>
                  <a:srgbClr val="0D0D0D"/>
                </a:solidFill>
                <a:effectLst/>
                <a:latin typeface="ui-sans-serif"/>
              </a:rPr>
              <a:t>cash (34.74%)</a:t>
            </a:r>
            <a:r>
              <a:rPr lang="en-US" sz="4400" b="0" i="0" dirty="0">
                <a:solidFill>
                  <a:srgbClr val="0D0D0D"/>
                </a:solidFill>
                <a:effectLst/>
                <a:latin typeface="ui-sans-serif"/>
              </a:rPr>
              <a:t> and </a:t>
            </a:r>
            <a:r>
              <a:rPr lang="en-US" sz="4400" b="1" i="0" dirty="0">
                <a:solidFill>
                  <a:srgbClr val="0D0D0D"/>
                </a:solidFill>
                <a:effectLst/>
                <a:latin typeface="ui-sans-serif"/>
              </a:rPr>
              <a:t>e-wallets (34.06%)</a:t>
            </a:r>
            <a:r>
              <a:rPr lang="en-US" sz="4400" b="0" i="0" dirty="0">
                <a:solidFill>
                  <a:srgbClr val="0D0D0D"/>
                </a:solidFill>
                <a:effectLst/>
                <a:latin typeface="ui-sans-serif"/>
              </a:rPr>
              <a:t> being slightly preferred over </a:t>
            </a:r>
            <a:r>
              <a:rPr lang="en-US" sz="4400" b="1" i="0" dirty="0">
                <a:solidFill>
                  <a:srgbClr val="0D0D0D"/>
                </a:solidFill>
                <a:effectLst/>
                <a:latin typeface="ui-sans-serif"/>
              </a:rPr>
              <a:t>credit cards (31.20%)</a:t>
            </a:r>
            <a:r>
              <a:rPr lang="en-US" sz="4400" b="0" i="0" dirty="0">
                <a:solidFill>
                  <a:srgbClr val="0D0D0D"/>
                </a:solidFill>
                <a:effectLst/>
                <a:latin typeface="ui-sans-serif"/>
              </a:rPr>
              <a:t>.</a:t>
            </a:r>
          </a:p>
          <a:p>
            <a:pPr algn="just">
              <a:lnSpc>
                <a:spcPct val="120000"/>
              </a:lnSpc>
              <a:spcBef>
                <a:spcPts val="600"/>
              </a:spcBef>
              <a:spcAft>
                <a:spcPts val="600"/>
              </a:spcAft>
              <a:buFont typeface="Arial" panose="020B0604020202020204" pitchFamily="34" charset="0"/>
              <a:buChar char="•"/>
            </a:pPr>
            <a:r>
              <a:rPr lang="en-US" sz="4400" b="1" i="0" dirty="0">
                <a:solidFill>
                  <a:srgbClr val="0D0D0D"/>
                </a:solidFill>
                <a:effectLst/>
                <a:latin typeface="ui-sans-serif"/>
              </a:rPr>
              <a:t>Credit cards</a:t>
            </a:r>
            <a:r>
              <a:rPr lang="en-US" sz="4400" b="0" i="0" dirty="0">
                <a:solidFill>
                  <a:srgbClr val="0D0D0D"/>
                </a:solidFill>
                <a:effectLst/>
                <a:latin typeface="ui-sans-serif"/>
              </a:rPr>
              <a:t> are the top choice for </a:t>
            </a:r>
            <a:r>
              <a:rPr lang="en-US" sz="4400" b="1" i="0" dirty="0">
                <a:solidFill>
                  <a:srgbClr val="0D0D0D"/>
                </a:solidFill>
                <a:effectLst/>
                <a:latin typeface="ui-sans-serif"/>
              </a:rPr>
              <a:t>Home and Lifestyle</a:t>
            </a:r>
            <a:r>
              <a:rPr lang="en-US" sz="4400" b="0" i="0" dirty="0">
                <a:solidFill>
                  <a:srgbClr val="0D0D0D"/>
                </a:solidFill>
                <a:effectLst/>
                <a:latin typeface="ui-sans-serif"/>
              </a:rPr>
              <a:t> purchases.</a:t>
            </a:r>
            <a:endParaRPr lang="en-US" sz="4400" dirty="0">
              <a:solidFill>
                <a:srgbClr val="0D0D0D"/>
              </a:solidFill>
              <a:latin typeface="ui-sans-serif"/>
            </a:endParaRPr>
          </a:p>
          <a:p>
            <a:pPr algn="l">
              <a:buNone/>
            </a:pPr>
            <a:endParaRPr lang="en-US" b="0" i="0" dirty="0">
              <a:solidFill>
                <a:srgbClr val="0D0D0D"/>
              </a:solidFill>
              <a:effectLst/>
              <a:latin typeface="ui-sans-serif"/>
            </a:endParaRPr>
          </a:p>
          <a:p>
            <a:pPr algn="l">
              <a:buNone/>
            </a:pPr>
            <a:endParaRPr lang="en-US" b="0" i="0" dirty="0">
              <a:solidFill>
                <a:srgbClr val="0D0D0D"/>
              </a:solidFill>
              <a:effectLst/>
              <a:latin typeface="ui-sans-serif"/>
            </a:endParaRPr>
          </a:p>
          <a:p>
            <a:pPr>
              <a:buNone/>
            </a:pPr>
            <a:br>
              <a:rPr lang="en-US" dirty="0"/>
            </a:br>
            <a:endParaRPr lang="en-IN" dirty="0"/>
          </a:p>
        </p:txBody>
      </p:sp>
    </p:spTree>
    <p:extLst>
      <p:ext uri="{BB962C8B-B14F-4D97-AF65-F5344CB8AC3E}">
        <p14:creationId xmlns:p14="http://schemas.microsoft.com/office/powerpoint/2010/main" val="202840206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12</TotalTime>
  <Words>665</Words>
  <Application>Microsoft Office PowerPoint</Application>
  <PresentationFormat>Widescreen</PresentationFormat>
  <Paragraphs>79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Garamond</vt:lpstr>
      <vt:lpstr>Ginto</vt:lpstr>
      <vt:lpstr>ui-sans-serif</vt:lpstr>
      <vt:lpstr>Organic</vt:lpstr>
      <vt:lpstr>Power BI Dashboard for  Supermarket Sales</vt:lpstr>
      <vt:lpstr>Introduction</vt:lpstr>
      <vt:lpstr>Dataset overview</vt:lpstr>
      <vt:lpstr>Dashboard Components</vt:lpstr>
      <vt:lpstr>Sales Summary</vt:lpstr>
      <vt:lpstr>Sales Trends</vt:lpstr>
      <vt:lpstr>Branch &amp; City Performance</vt:lpstr>
      <vt:lpstr>Customer Insights </vt:lpstr>
      <vt:lpstr>Product Performance</vt:lpstr>
      <vt:lpstr>Ratings &amp; Payment Preferences</vt:lpstr>
      <vt:lpstr>Conclusion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ajith gowda</dc:creator>
  <cp:lastModifiedBy>ajith gowda</cp:lastModifiedBy>
  <cp:revision>2</cp:revision>
  <dcterms:created xsi:type="dcterms:W3CDTF">2025-04-12T07:06:03Z</dcterms:created>
  <dcterms:modified xsi:type="dcterms:W3CDTF">2025-04-12T07:18:04Z</dcterms:modified>
</cp:coreProperties>
</file>